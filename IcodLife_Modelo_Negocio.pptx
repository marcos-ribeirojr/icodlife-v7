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Uso dos recursos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4C93AC"/>
              </a:solidFill>
              <a:effectLst/>
            </c:spPr>
          </c:dPt>
          <c:dPt>
            <c:idx val="3"/>
            <c:bubble3D val="0"/>
            <c:spPr>
              <a:solidFill>
                <a:srgbClr val="8FC1D6"/>
              </a:solidFill>
              <a:effectLst/>
            </c:spPr>
          </c:dPt>
          <c:dPt>
            <c:idx val="4"/>
            <c:bubble3D val="0"/>
            <c:spPr>
              <a:solidFill>
                <a:srgbClr val="E8A33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Produto &amp; Dev.</c:v>
                </c:pt>
                <c:pt idx="1">
                  <c:v>Marketing &amp; Aquisição</c:v>
                </c:pt>
                <c:pt idx="2">
                  <c:v>Operações &amp; Equipe</c:v>
                </c:pt>
                <c:pt idx="3">
                  <c:v>Legal, DPO &amp; LGPD</c:v>
                </c:pt>
                <c:pt idx="4">
                  <c:v>Infra Cloud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45</c:v>
                </c:pt>
                <c:pt idx="1">
                  <c:v>18</c:v>
                </c:pt>
                <c:pt idx="2">
                  <c:v>15</c:v>
                </c:pt>
                <c:pt idx="3">
                  <c:v>12</c:v>
                </c:pt>
                <c:pt idx="4">
                  <c:v>10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D556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828800"/>
            <a:ext cx="5120640" cy="5120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097280"/>
            <a:ext cx="3657600" cy="3657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-365760"/>
            <a:ext cx="2194560" cy="2194560"/>
          </a:xfrm>
          <a:prstGeom prst="ellipse">
            <a:avLst/>
          </a:prstGeom>
          <a:solidFill>
            <a:srgbClr val="BFE3F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651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B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ICODLIFE / SOU DOUTOR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Negócio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frentes de monetização, independentes e complementares.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IcodLife / Sou Doutor — Modelo de Negócio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geral: 3 frentes de monetização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332720" cy="1234440"/>
          </a:xfrm>
          <a:prstGeom prst="roundRect">
            <a:avLst>
              <a:gd name="adj" fmla="val 7407"/>
            </a:avLst>
          </a:prstGeom>
          <a:solidFill>
            <a:srgbClr val="EFF6F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4310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tmp/pptx-work/icons/doc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1259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828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SaaS Médico/Clínica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920240" y="2194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Paga: </a:t>
            </a:r>
            <a:pPr indent="0" marL="0">
              <a:buNone/>
            </a:pPr>
            <a:r>
              <a:rPr lang="en-US" sz="1050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 ou Clínica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920240" y="24871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Recebe: </a:t>
            </a:r>
            <a:pPr indent="0" marL="0">
              <a:buNone/>
            </a:pPr>
            <a:r>
              <a:rPr lang="en-US" sz="1050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ICODLIFE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0" y="1947672"/>
            <a:ext cx="52120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0" y="1947672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recorrente, sem split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" y="3108960"/>
            <a:ext cx="10332720" cy="1234440"/>
          </a:xfrm>
          <a:prstGeom prst="roundRect">
            <a:avLst>
              <a:gd name="adj" fmla="val 7407"/>
            </a:avLst>
          </a:prstGeom>
          <a:solidFill>
            <a:srgbClr val="EFF6FA"/>
          </a:solidFill>
          <a:ln/>
        </p:spPr>
      </p:sp>
      <p:sp>
        <p:nvSpPr>
          <p:cNvPr id="13" name="Shape 10"/>
          <p:cNvSpPr/>
          <p:nvPr/>
        </p:nvSpPr>
        <p:spPr>
          <a:xfrm>
            <a:off x="914400" y="33604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1" descr="/tmp/pptx-work/icons/exch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54330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920240" y="3246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Pagamento de consulta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920240" y="3611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Paga: </a:t>
            </a:r>
            <a:pPr indent="0" marL="0">
              <a:buNone/>
            </a:pPr>
            <a:r>
              <a:rPr lang="en-US" sz="1050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1920240" y="39044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Recebe: </a:t>
            </a:r>
            <a:pPr indent="0" marL="0">
              <a:buNone/>
            </a:pPr>
            <a:r>
              <a:rPr lang="en-US" sz="1050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Médico/Clínica + comissão ICODLIFE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486400" y="3364992"/>
            <a:ext cx="52120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9" name="Text 15"/>
          <p:cNvSpPr/>
          <p:nvPr/>
        </p:nvSpPr>
        <p:spPr>
          <a:xfrm>
            <a:off x="5486400" y="3364992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Cobrança avulsa, com split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40080" y="4526280"/>
            <a:ext cx="10332720" cy="1234440"/>
          </a:xfrm>
          <a:prstGeom prst="roundRect">
            <a:avLst>
              <a:gd name="adj" fmla="val 7407"/>
            </a:avLst>
          </a:prstGeom>
          <a:solidFill>
            <a:srgbClr val="EFF6FA"/>
          </a:solidFill>
          <a:ln/>
        </p:spPr>
      </p:sp>
      <p:sp>
        <p:nvSpPr>
          <p:cNvPr id="21" name="Shape 17"/>
          <p:cNvSpPr/>
          <p:nvPr/>
        </p:nvSpPr>
        <p:spPr>
          <a:xfrm>
            <a:off x="914400" y="47777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" name="Image 2" descr="/tmp/pptx-work/icons/ge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96062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920240" y="4663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Premium do paciente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1920240" y="5029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Paga: </a:t>
            </a:r>
            <a:pPr indent="0" marL="0">
              <a:buNone/>
            </a:pPr>
            <a:r>
              <a:rPr lang="en-US" sz="1050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1920240" y="532180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Recebe: </a:t>
            </a:r>
            <a:pPr indent="0" marL="0">
              <a:buNone/>
            </a:pPr>
            <a:r>
              <a:rPr lang="en-US" sz="1050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ICODLIFE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5486400" y="4782312"/>
            <a:ext cx="52120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27" name="Text 22"/>
          <p:cNvSpPr/>
          <p:nvPr/>
        </p:nvSpPr>
        <p:spPr>
          <a:xfrm>
            <a:off x="5486400" y="4782312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recorrente, sem split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640080" y="59893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frentes independentes e complementares — o crescimento de uma não depende das outras.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IcodLife / Sou Doutor — Modelo de Negócio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 Médico/Clínica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21295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116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tmp/pptx-work/icons/doc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183130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57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 solo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783080" y="2423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R$ 99</a:t>
            </a:r>
            <a:pPr indent="0" marL="0">
              <a:buNone/>
            </a:pPr>
            <a:r>
              <a:rPr lang="en-US" sz="1200" dirty="0">
                <a:solidFill>
                  <a:srgbClr val="9FC6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/mês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206240" y="169164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21295C"/>
          </a:solidFill>
          <a:ln/>
        </p:spPr>
      </p:sp>
      <p:sp>
        <p:nvSpPr>
          <p:cNvPr id="10" name="Shape 7"/>
          <p:cNvSpPr/>
          <p:nvPr/>
        </p:nvSpPr>
        <p:spPr>
          <a:xfrm>
            <a:off x="4480560" y="20116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tmp/pptx-work/icons/clin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010" y="218313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2057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Clínica/Hospital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349240" y="2423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R$ 388</a:t>
            </a:r>
            <a:pPr indent="0" marL="0">
              <a:buNone/>
            </a:pPr>
            <a:r>
              <a:rPr lang="en-US" sz="1200" dirty="0">
                <a:solidFill>
                  <a:srgbClr val="9FC6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/mês</a:t>
            </a:r>
            <a:endParaRPr lang="en-US" sz="2600" dirty="0"/>
          </a:p>
        </p:txBody>
      </p:sp>
      <p:sp>
        <p:nvSpPr>
          <p:cNvPr id="14" name="Shape 10"/>
          <p:cNvSpPr/>
          <p:nvPr/>
        </p:nvSpPr>
        <p:spPr>
          <a:xfrm>
            <a:off x="640080" y="3794760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5" name="Image 2" descr="/tmp/pptx-work/icons/gea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3192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813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Cobrança recorrente via Pagar.me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371600" y="41148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+ Subscription — sem necessidade de cron próprio; o gateway administra a recorrência.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" y="4754880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9" name="Image 3" descr="/tmp/pptx-work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9204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477316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de feature por plano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371600" y="50749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liberadas conforme o plano ativo (ex.: nº de médicos vinculados, exportação de PDF, telemedicina).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IcodLife / Sou Doutor — Modelo de Negócio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Marketplace de consultas (com split)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332720" cy="1097280"/>
          </a:xfrm>
          <a:prstGeom prst="roundRect">
            <a:avLst>
              <a:gd name="adj" fmla="val 10000"/>
            </a:avLst>
          </a:prstGeom>
          <a:solidFill>
            <a:srgbClr val="EFF6F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 a consulta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0" y="18745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/tmp/pptx-work/icons/exch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7590" y="2068830"/>
            <a:ext cx="388620" cy="3886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343400" y="1965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automático — 10% de comissão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343400" y="23042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Cartão, PIX ou boleto — na própria plataforma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0" y="1874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 / Clínica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0" y="2240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o repasse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0080" y="3246120"/>
            <a:ext cx="10332720" cy="1097280"/>
          </a:xfrm>
          <a:prstGeom prst="roundRect">
            <a:avLst>
              <a:gd name="adj" fmla="val 8333"/>
            </a:avLst>
          </a:prstGeom>
          <a:solidFill>
            <a:srgbClr val="EFF6FA"/>
          </a:solidFill>
          <a:ln/>
        </p:spPr>
      </p:sp>
      <p:sp>
        <p:nvSpPr>
          <p:cNvPr id="14" name="Shape 11"/>
          <p:cNvSpPr/>
          <p:nvPr/>
        </p:nvSpPr>
        <p:spPr>
          <a:xfrm>
            <a:off x="914400" y="350215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1" descr="/tmp/pptx-work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3650742"/>
            <a:ext cx="297180" cy="2971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91640" y="3410712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Pré-requisito: KYC do recebedor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691640" y="3758184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Médico/clínica completa cadastro de recebedor (CPF/CNPJ + dados bancários) diretamente no gateway.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40080" y="4526280"/>
            <a:ext cx="10332720" cy="1097280"/>
          </a:xfrm>
          <a:prstGeom prst="roundRect">
            <a:avLst>
              <a:gd name="adj" fmla="val 8333"/>
            </a:avLst>
          </a:prstGeom>
          <a:solidFill>
            <a:srgbClr val="EFF6FA"/>
          </a:solidFill>
          <a:ln/>
        </p:spPr>
      </p:sp>
      <p:sp>
        <p:nvSpPr>
          <p:cNvPr id="19" name="Shape 15"/>
          <p:cNvSpPr/>
          <p:nvPr/>
        </p:nvSpPr>
        <p:spPr>
          <a:xfrm>
            <a:off x="914400" y="478231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2" descr="/tmp/pptx-work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90" y="4930902"/>
            <a:ext cx="297180" cy="2971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91640" y="4690872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confirmam o pagamento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691640" y="5038344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Liberam o repasse automaticamente — sem transferência manual.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IcodLife / Sou Doutor — Modelo de Negócio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do paciente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463040" cy="14630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5" name="Image 0" descr="/tmp/pptx-work/icons/g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3350" y="2209190"/>
            <a:ext cx="702259" cy="7022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06040" y="19659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R$ 19,90</a:t>
            </a:r>
            <a:pPr indent="0" marL="0">
              <a:buNone/>
            </a:pPr>
            <a:r>
              <a:rPr lang="en-US" sz="1600" dirty="0">
                <a:solidFill>
                  <a:srgbClr val="9FC6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/mês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2651760" y="2788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mensal do portal do paciente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397764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9" name="Image 1" descr="/tmp/pptx-work/icons/gea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4126230"/>
            <a:ext cx="297180" cy="2971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4023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mecanismo da Frente 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600200" y="436168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Recorrência via Pagar.me — mesma infraestrutura de assinaturas.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22960" y="493776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3" name="Image 2" descr="/tmp/pptx-work/icons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5086350"/>
            <a:ext cx="297180" cy="2971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4983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Desbloqueia funcionalidades avançadas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600200" y="532180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definir quais — hoje o core do portal do paciente já é gratuito.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IcodLife / Sou Doutor — Modelo de Negócio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ESCOLHIDO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Pagar.me v5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74920" cy="2103120"/>
          </a:xfrm>
          <a:prstGeom prst="roundRect">
            <a:avLst>
              <a:gd name="adj" fmla="val 5217"/>
            </a:avLst>
          </a:prstGeom>
          <a:solidFill>
            <a:srgbClr val="EFF6FA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1168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tmp/pptx-work/icons/credit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5" y="218724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88036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 e boleto nativos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3227832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tokenização de cartão obrigatória.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074920" cy="2103120"/>
          </a:xfrm>
          <a:prstGeom prst="roundRect">
            <a:avLst>
              <a:gd name="adj" fmla="val 5217"/>
            </a:avLst>
          </a:prstGeom>
          <a:solidFill>
            <a:srgbClr val="EFF6FA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201168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tmp/pptx-work/icons/exch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5" y="218724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92240" y="288036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de marketplace pronto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92240" y="3227832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precisa construir motor de repasse do zero.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023360"/>
            <a:ext cx="5074920" cy="2103120"/>
          </a:xfrm>
          <a:prstGeom prst="roundRect">
            <a:avLst>
              <a:gd name="adj" fmla="val 5217"/>
            </a:avLst>
          </a:prstGeom>
          <a:solidFill>
            <a:srgbClr val="EFF6FA"/>
          </a:solidFill>
          <a:ln/>
        </p:spPr>
      </p:sp>
      <p:sp>
        <p:nvSpPr>
          <p:cNvPr id="15" name="Shape 11"/>
          <p:cNvSpPr/>
          <p:nvPr/>
        </p:nvSpPr>
        <p:spPr>
          <a:xfrm>
            <a:off x="960120" y="434340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tmp/pptx-work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685" y="451896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521208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Tokenização do lado do gateway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60120" y="5559552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ICODLIFE nunca armazena número de cartão (PCI-DSS).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4023360"/>
            <a:ext cx="5074920" cy="2103120"/>
          </a:xfrm>
          <a:prstGeom prst="roundRect">
            <a:avLst>
              <a:gd name="adj" fmla="val 5217"/>
            </a:avLst>
          </a:prstGeom>
          <a:solidFill>
            <a:srgbClr val="EFF6FA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434340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/tmp/pptx-work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805" y="4518965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92240" y="521208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gratuito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492240" y="5559552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de desenvolvimento sem burocracia prévia.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IcodLife / Sou Doutor — Modelo de Negócio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e segurança financeira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487168" cy="3291840"/>
          </a:xfrm>
          <a:prstGeom prst="roundRect">
            <a:avLst>
              <a:gd name="adj" fmla="val 4412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1540764" y="224028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6" name="Image 0" descr="/tmp/pptx-work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2214" y="2411730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154680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PCI-DSS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41248" y="356616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dado de cartão trafega ou fica armazenado nos servidores da ICODLIFE.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83280" y="1920240"/>
            <a:ext cx="2487168" cy="3291840"/>
          </a:xfrm>
          <a:prstGeom prst="roundRect">
            <a:avLst>
              <a:gd name="adj" fmla="val 4412"/>
            </a:avLst>
          </a:prstGeom>
          <a:solidFill>
            <a:srgbClr val="065A82"/>
          </a:solidFill>
          <a:ln/>
        </p:spPr>
      </p:sp>
      <p:sp>
        <p:nvSpPr>
          <p:cNvPr id="10" name="Shape 7"/>
          <p:cNvSpPr/>
          <p:nvPr/>
        </p:nvSpPr>
        <p:spPr>
          <a:xfrm>
            <a:off x="4283964" y="224028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1" name="Image 1" descr="/tmp/pptx-work/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414" y="241173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3154680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LGPD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584448" y="356616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bancários e documentos de KYC ficam custodiados pelo gateway, não replicados além do necessário.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1920240"/>
            <a:ext cx="2487168" cy="3291840"/>
          </a:xfrm>
          <a:prstGeom prst="roundRect">
            <a:avLst>
              <a:gd name="adj" fmla="val 4412"/>
            </a:avLst>
          </a:prstGeom>
          <a:solidFill>
            <a:srgbClr val="065A82"/>
          </a:solidFill>
          <a:ln/>
        </p:spPr>
      </p:sp>
      <p:sp>
        <p:nvSpPr>
          <p:cNvPr id="15" name="Shape 11"/>
          <p:cNvSpPr/>
          <p:nvPr/>
        </p:nvSpPr>
        <p:spPr>
          <a:xfrm>
            <a:off x="7027164" y="224028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6" name="Image 2" descr="/tmp/pptx-work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614" y="241173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3154680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Idempotência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327648" y="356616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todas as cobranças — evita cobrança duplicada em caso de falha de rede.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869680" y="1920240"/>
            <a:ext cx="2487168" cy="3291840"/>
          </a:xfrm>
          <a:prstGeom prst="roundRect">
            <a:avLst>
              <a:gd name="adj" fmla="val 4412"/>
            </a:avLst>
          </a:prstGeom>
          <a:solidFill>
            <a:srgbClr val="065A82"/>
          </a:solidFill>
          <a:ln/>
        </p:spPr>
      </p:sp>
      <p:sp>
        <p:nvSpPr>
          <p:cNvPr id="20" name="Shape 15"/>
          <p:cNvSpPr/>
          <p:nvPr/>
        </p:nvSpPr>
        <p:spPr>
          <a:xfrm>
            <a:off x="9770364" y="224028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1" name="Image 3" descr="/tmp/pptx-work/icon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1814" y="241173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52560" y="3154680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Auditoria de webhooks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070848" y="356616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bruto de todo evento recebido, com reprocessamento em caso de falha.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IcodLife / Sou Doutor — Modelo de Negócio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CAPTAÇÃO — R$ 500.000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dos recursos da captação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55778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537960" y="1810512"/>
            <a:ext cx="201168" cy="2011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0" y="17373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&amp; Desenvolvimento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0195560" y="173736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0" y="2066544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R$ 315.000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537960" y="2651760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0" y="25786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Aquisição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195560" y="257860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858000" y="2907792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R$ 126.000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537960" y="3493008"/>
            <a:ext cx="201168" cy="201168"/>
          </a:xfrm>
          <a:prstGeom prst="rect">
            <a:avLst/>
          </a:prstGeom>
          <a:solidFill>
            <a:srgbClr val="4C93AC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0" y="341985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&amp; Equipe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195560" y="341985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858000" y="374904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R$ 105.000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537960" y="4334256"/>
            <a:ext cx="201168" cy="201168"/>
          </a:xfrm>
          <a:prstGeom prst="rect">
            <a:avLst/>
          </a:prstGeom>
          <a:solidFill>
            <a:srgbClr val="8FC1D6"/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0" y="426110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DPO &amp; LGPD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195560" y="4261104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858000" y="459028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R$ 84.000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537960" y="5175504"/>
            <a:ext cx="201168" cy="20116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2" name="Text 19"/>
          <p:cNvSpPr/>
          <p:nvPr/>
        </p:nvSpPr>
        <p:spPr>
          <a:xfrm>
            <a:off x="6858000" y="510235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Cloud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0195560" y="510235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858000" y="5431536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R$ 70.000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IcodLife / Sou Doutor — Modelo de Negócio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ESTAMOS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de implementação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332720" cy="1005840"/>
          </a:xfrm>
          <a:prstGeom prst="roundRect">
            <a:avLst>
              <a:gd name="adj" fmla="val 9091"/>
            </a:avLst>
          </a:prstGeom>
          <a:solidFill>
            <a:srgbClr val="FCEFD9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2024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/tmp/pptx-work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574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745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das três frentes está implementada ainda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45920" y="22128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técnico completo já pronto — ver PLANO_MODULO_PAGAMENTOS.md.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2880360"/>
            <a:ext cx="10332720" cy="1005840"/>
          </a:xfrm>
          <a:prstGeom prst="roundRect">
            <a:avLst>
              <a:gd name="adj" fmla="val 9091"/>
            </a:avLst>
          </a:prstGeom>
          <a:solidFill>
            <a:srgbClr val="EFF6FA"/>
          </a:solidFill>
          <a:ln/>
        </p:spPr>
      </p:sp>
      <p:sp>
        <p:nvSpPr>
          <p:cNvPr id="10" name="Shape 7"/>
          <p:cNvSpPr/>
          <p:nvPr/>
        </p:nvSpPr>
        <p:spPr>
          <a:xfrm>
            <a:off x="914400" y="31089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tmp/pptx-work/icons/ro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2461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30632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ação: sub-sprint 18.1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645920" y="340156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Prisma (Plan, Subscription, PaymentRecipient, PaymentCharge, PaymentWebhookLog) + abertura de conta sandbox Pagar.me.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4160520"/>
            <a:ext cx="10332720" cy="1463040"/>
          </a:xfrm>
          <a:prstGeom prst="roundRect">
            <a:avLst>
              <a:gd name="adj" fmla="val 6250"/>
            </a:avLst>
          </a:prstGeom>
          <a:solidFill>
            <a:srgbClr val="EFF6FA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3891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tmp/pptx-work/icons/tas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5262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343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completo: 18.1 a 18.7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645920" y="4681728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→ integração → Frente A → Frente C → Frente B onboarding → Frente B cobrança → hardening/produção.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IcodLife / Sou Doutor — Modelo de Negócio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5029200" cy="5029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PROJEÇÕES FINANCEIRAS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332720" cy="3017520"/>
          </a:xfrm>
          <a:prstGeom prst="roundRect">
            <a:avLst>
              <a:gd name="adj" fmla="val 4242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5454396" y="2468880"/>
            <a:ext cx="1005840" cy="10058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6" name="Image 0" descr="/tmp/pptx-work/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5856" y="27203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6576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E93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[completar]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554480" y="4251960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de receita/usuários por frente — não há número validado com o usuário ainda.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estimado sem base.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IcodLife / Sou Doutor — Modelo de Negócio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2026-07-20T15:32:44Z</dcterms:created>
  <dcterms:modified xsi:type="dcterms:W3CDTF">2026-07-20T15:32:44Z</dcterms:modified>
</cp:coreProperties>
</file>