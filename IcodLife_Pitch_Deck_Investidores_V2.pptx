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dos recursos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E4E96"/>
              </a:solidFill>
              <a:effectLst/>
            </c:spPr>
          </c:dPt>
          <c:dPt>
            <c:idx val="2"/>
            <c:bubble3D val="0"/>
            <c:spPr>
              <a:solidFill>
                <a:srgbClr val="6B7BC2"/>
              </a:solidFill>
              <a:effectLst/>
            </c:spPr>
          </c:dPt>
          <c:dPt>
            <c:idx val="3"/>
            <c:bubble3D val="0"/>
            <c:spPr>
              <a:solidFill>
                <a:srgbClr val="A6B3E0"/>
              </a:solidFill>
              <a:effectLst/>
            </c:spPr>
          </c:dPt>
          <c:dPt>
            <c:idx val="4"/>
            <c:bubble3D val="0"/>
            <c:spPr>
              <a:solidFill>
                <a:srgbClr val="D4AF6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Produto &amp; Dev.</c:v>
                </c:pt>
                <c:pt idx="1">
                  <c:v>Marketing &amp; Aquisição</c:v>
                </c:pt>
                <c:pt idx="2">
                  <c:v>Operações &amp; Equipe</c:v>
                </c:pt>
                <c:pt idx="3">
                  <c:v>Legal, DPO &amp; LGPD</c:v>
                </c:pt>
                <c:pt idx="4">
                  <c:v>Infra Cloud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05840"/>
            <a:ext cx="3474720" cy="3474720"/>
          </a:xfrm>
          <a:prstGeom prst="ellipse">
            <a:avLst/>
          </a:prstGeom>
          <a:solidFill>
            <a:srgbClr val="232D66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365760"/>
            <a:ext cx="2194560" cy="2194560"/>
          </a:xfrm>
          <a:prstGeom prst="ellipse">
            <a:avLst/>
          </a:prstGeom>
          <a:solidFill>
            <a:srgbClr val="2B367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 Pessoal Inteligente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paciente, médico e clínica em uma única plataforma.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SEED  ·  [mês/ano a completar]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— Investidores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ptx-work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fragmentados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644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e histórico de saúde espalhados entre paciente, médico e clínica — cada um com sua própria versão incompleta.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pptx-work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926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soltas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32644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 e clínica pequena/média não têm ferramenta unificada de agenda, prontuário, financeiro e ASO — usam planilha, papel ou sistemas antigos e caros.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526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pptx-work/icons/pat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47128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sem visão longitudinal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7790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só lugar com exames, medicação, hábitos e histórico familiar reunidos.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2062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526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pptx-wor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7128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de dado estruturado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57790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 saúde estruturado no Brasil é escasso e disperso — dificulta prevenção, pesquisa e políticas públicas.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única com três portais integrados por um mesmo núcleo de dados.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37560" cy="3794760"/>
          </a:xfrm>
          <a:prstGeom prst="roundRect">
            <a:avLst>
              <a:gd name="adj" fmla="val 3836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23774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pptx-work/icons/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9044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 + mobile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pessoal, família, exames, medicação, estilo de vida, telemedicina.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337560" cy="3794760"/>
          </a:xfrm>
          <a:prstGeom prst="roundRect">
            <a:avLst>
              <a:gd name="adj" fmla="val 3836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5509260" y="2377440"/>
            <a:ext cx="914400" cy="914400"/>
          </a:xfrm>
          <a:prstGeom prst="ellipse">
            <a:avLst/>
          </a:prstGeom>
          <a:solidFill>
            <a:srgbClr val="2B3673"/>
          </a:solidFill>
          <a:ln/>
        </p:spPr>
      </p:sp>
      <p:pic>
        <p:nvPicPr>
          <p:cNvPr id="13" name="Image 1" descr="/tmp/pptx-work/icons/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4747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26280" y="39044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apps/doutor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0" y="429768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prontuário, prescrição, financeiro, ASO, carteira de empresas.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1965960"/>
            <a:ext cx="3337560" cy="3794760"/>
          </a:xfrm>
          <a:prstGeom prst="roundRect">
            <a:avLst>
              <a:gd name="adj" fmla="val 3836"/>
            </a:avLst>
          </a:prstGeom>
          <a:solidFill>
            <a:srgbClr val="CADCFC"/>
          </a:solidFill>
          <a:ln/>
        </p:spPr>
      </p:sp>
      <p:sp>
        <p:nvSpPr>
          <p:cNvPr id="18" name="Shape 14"/>
          <p:cNvSpPr/>
          <p:nvPr/>
        </p:nvSpPr>
        <p:spPr>
          <a:xfrm>
            <a:off x="9166860" y="23774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tmp/pptx-work/icons/clin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6060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83880" y="34747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Clínica/Hospital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183880" y="39044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apps/clinica — multi-tenant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29600" y="429768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vários médicos, financeiro consolidado, agenda multiprofissional.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centralizado: um único hub de autenticação encaminha cada perfil ao seu painel correto.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2B3673"/>
          </a:solidFill>
          <a:ln/>
        </p:spPr>
      </p:sp>
      <p:pic>
        <p:nvPicPr>
          <p:cNvPr id="5" name="Image 0" descr="/tmp/pptx-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276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multi-tenant não destrutiva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965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 continua operando normalmente; ao entrar numa clínica, os mesmos registros passam a ser compartilhados (clinicId), sem duplicar lógica de negócio.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2B3673"/>
          </a:solidFill>
          <a:ln/>
        </p:spPr>
      </p:sp>
      <p:pic>
        <p:nvPicPr>
          <p:cNvPr id="9" name="Image 1" descr="/tmp/pptx-work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575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2491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módulos já entregues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463040" y="3127248"/>
            <a:ext cx="671170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12" name="Text 8"/>
          <p:cNvSpPr/>
          <p:nvPr/>
        </p:nvSpPr>
        <p:spPr>
          <a:xfrm>
            <a:off x="1463040" y="3127248"/>
            <a:ext cx="671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43938" y="3127248"/>
            <a:ext cx="1271016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14" name="Text 10"/>
          <p:cNvSpPr/>
          <p:nvPr/>
        </p:nvSpPr>
        <p:spPr>
          <a:xfrm>
            <a:off x="2243938" y="31272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Menstrual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24682" y="3127248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16" name="Text 12"/>
          <p:cNvSpPr/>
          <p:nvPr/>
        </p:nvSpPr>
        <p:spPr>
          <a:xfrm>
            <a:off x="3624682" y="3127248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HealthBot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80483" y="3127248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18" name="Text 14"/>
          <p:cNvSpPr/>
          <p:nvPr/>
        </p:nvSpPr>
        <p:spPr>
          <a:xfrm>
            <a:off x="4780483" y="3127248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36285" y="3127248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20" name="Text 16"/>
          <p:cNvSpPr/>
          <p:nvPr/>
        </p:nvSpPr>
        <p:spPr>
          <a:xfrm>
            <a:off x="5936285" y="3127248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092086" y="3127248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22" name="Text 18"/>
          <p:cNvSpPr/>
          <p:nvPr/>
        </p:nvSpPr>
        <p:spPr>
          <a:xfrm>
            <a:off x="7092086" y="3127248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Oftalmologia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247888" y="3127248"/>
            <a:ext cx="202082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24" name="Text 20"/>
          <p:cNvSpPr/>
          <p:nvPr/>
        </p:nvSpPr>
        <p:spPr>
          <a:xfrm>
            <a:off x="8247888" y="3127248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Procedimentos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463040" y="3566160"/>
            <a:ext cx="1345997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26" name="Text 22"/>
          <p:cNvSpPr/>
          <p:nvPr/>
        </p:nvSpPr>
        <p:spPr>
          <a:xfrm>
            <a:off x="1463040" y="3566160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918765" y="3566160"/>
            <a:ext cx="1420978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28" name="Text 24"/>
          <p:cNvSpPr/>
          <p:nvPr/>
        </p:nvSpPr>
        <p:spPr>
          <a:xfrm>
            <a:off x="2918765" y="3566160"/>
            <a:ext cx="1420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Ocupacional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449470" y="3566160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30" name="Text 26"/>
          <p:cNvSpPr/>
          <p:nvPr/>
        </p:nvSpPr>
        <p:spPr>
          <a:xfrm>
            <a:off x="4449470" y="3566160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Mental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605272" y="3566160"/>
            <a:ext cx="371246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566160"/>
            <a:ext cx="3712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086246" y="3566160"/>
            <a:ext cx="746150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34" name="Text 30"/>
          <p:cNvSpPr/>
          <p:nvPr/>
        </p:nvSpPr>
        <p:spPr>
          <a:xfrm>
            <a:off x="6086246" y="3566160"/>
            <a:ext cx="746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942125" y="35661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36" name="Text 32"/>
          <p:cNvSpPr/>
          <p:nvPr/>
        </p:nvSpPr>
        <p:spPr>
          <a:xfrm>
            <a:off x="6942125" y="3566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Exames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8697773" y="3566160"/>
            <a:ext cx="1196035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38" name="Text 34"/>
          <p:cNvSpPr/>
          <p:nvPr/>
        </p:nvSpPr>
        <p:spPr>
          <a:xfrm>
            <a:off x="8697773" y="3566160"/>
            <a:ext cx="11960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Vida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10003536" y="356616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40" name="Text 36"/>
          <p:cNvSpPr/>
          <p:nvPr/>
        </p:nvSpPr>
        <p:spPr>
          <a:xfrm>
            <a:off x="10003536" y="356616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1463040" y="4005072"/>
            <a:ext cx="821131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42" name="Text 38"/>
          <p:cNvSpPr/>
          <p:nvPr/>
        </p:nvSpPr>
        <p:spPr>
          <a:xfrm>
            <a:off x="1463040" y="4005072"/>
            <a:ext cx="8211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Cirurgias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2393899" y="4005072"/>
            <a:ext cx="671170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44" name="Text 40"/>
          <p:cNvSpPr/>
          <p:nvPr/>
        </p:nvSpPr>
        <p:spPr>
          <a:xfrm>
            <a:off x="2393899" y="4005072"/>
            <a:ext cx="671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Vacinas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3174797" y="4005072"/>
            <a:ext cx="1495958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46" name="Text 42"/>
          <p:cNvSpPr/>
          <p:nvPr/>
        </p:nvSpPr>
        <p:spPr>
          <a:xfrm>
            <a:off x="3174797" y="4005072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Corporais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780483" y="4005072"/>
            <a:ext cx="446227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48" name="Text 44"/>
          <p:cNvSpPr/>
          <p:nvPr/>
        </p:nvSpPr>
        <p:spPr>
          <a:xfrm>
            <a:off x="4780483" y="4005072"/>
            <a:ext cx="4462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5336438" y="4005072"/>
            <a:ext cx="746150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50" name="Text 46"/>
          <p:cNvSpPr/>
          <p:nvPr/>
        </p:nvSpPr>
        <p:spPr>
          <a:xfrm>
            <a:off x="5336438" y="4005072"/>
            <a:ext cx="746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Glicemia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6192317" y="4005072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B3673"/>
          </a:solidFill>
          <a:ln/>
        </p:spPr>
      </p:sp>
      <p:sp>
        <p:nvSpPr>
          <p:cNvPr id="52" name="Text 48"/>
          <p:cNvSpPr/>
          <p:nvPr/>
        </p:nvSpPr>
        <p:spPr>
          <a:xfrm>
            <a:off x="6192317" y="4005072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64008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saúde com IA sobre texto livre e big data populacional anonimizado — em desenvolvimento (Fase 4).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Diferenciais competitivos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ptx-work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dados único no Brasil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2140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a unir paciente + médico + clínica num mesmo grafo relacional (paciente ↔ família ↔ médico ↔ clínica ↔ empresa ↔ exame).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108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pptx-wor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2575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9923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estruturado e padronizado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91640" y="331012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laboratoriais SBPC/ML, CNES, IBGE — base sólida para IA e para o motor de risco populacional.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pptx-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446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8795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institucional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91640" y="449884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planejada com gov.br (Login Único) e RNDS/DATASUS — interoperabilidade FHIR com o SUS.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525780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486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pptx-work/icons/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6349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7667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diversificada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91640" y="568756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de receita independentes e complementares, reduzindo a dependência de um único fluxo de caixa.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ptx-wor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[completar]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mercado de saúde digital no Brasil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 / SAM / SOM)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5120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estimado nesta versão — aguardando fonte de dado validada.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2011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pptx-wor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1762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[completar]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217920" y="33832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médicos e clínicas endereçáveis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 (fonte CFM / IBGE)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217920" y="41605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mercado de prontuário eletrônico e gestão de clínicas ainda fragmentado entre players legados e poucos SaaS modernos; tendência regulatória (RNDS/gov.br) empurra digitalização.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negócio — 3 frentes de receita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332720" cy="932688"/>
          </a:xfrm>
          <a:prstGeom prst="roundRect">
            <a:avLst>
              <a:gd name="adj" fmla="val 980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29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ptx-work/icons/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06105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Médico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176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1901952"/>
            <a:ext cx="2468880" cy="6035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019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R$ 99/mês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798064"/>
            <a:ext cx="10332720" cy="932688"/>
          </a:xfrm>
          <a:prstGeom prst="roundRect">
            <a:avLst>
              <a:gd name="adj" fmla="val 9804"/>
            </a:avLst>
          </a:prstGeom>
          <a:solidFill>
            <a:srgbClr val="EAEFFB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" y="29900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tmp/pptx-work/icons/cli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3121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889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Clínica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32369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/ Hospital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2962656"/>
            <a:ext cx="2468880" cy="6035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0" y="29626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R$ 388/mês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080" y="3858768"/>
            <a:ext cx="10332720" cy="932688"/>
          </a:xfrm>
          <a:prstGeom prst="roundRect">
            <a:avLst>
              <a:gd name="adj" fmla="val 9804"/>
            </a:avLst>
          </a:prstGeom>
          <a:solidFill>
            <a:srgbClr val="F4F6FC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" y="40507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tmp/pptx-work/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2" y="418246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9502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consultas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00200" y="4297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Paciente, com split pro médico/clínica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29600" y="4023360"/>
            <a:ext cx="2468880" cy="6035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0" y="4023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de comissão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40080" y="4919472"/>
            <a:ext cx="10332720" cy="932688"/>
          </a:xfrm>
          <a:prstGeom prst="roundRect">
            <a:avLst>
              <a:gd name="adj" fmla="val 9804"/>
            </a:avLst>
          </a:prstGeom>
          <a:solidFill>
            <a:srgbClr val="EAEFFB"/>
          </a:solidFill>
          <a:ln/>
        </p:spPr>
      </p:sp>
      <p:sp>
        <p:nvSpPr>
          <p:cNvPr id="26" name="Shape 21"/>
          <p:cNvSpPr/>
          <p:nvPr/>
        </p:nvSpPr>
        <p:spPr>
          <a:xfrm>
            <a:off x="841248" y="51114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tmp/pptx-work/icons/g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5243170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5010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do paciente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600200" y="53583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229600" y="5084064"/>
            <a:ext cx="2468880" cy="6035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8229600" y="508406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R$ 19,90/mês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640080" y="602589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Pagar.me v5 — PIX, boleto, cartão e split de marketplace nativo para o mercado brasileiro.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Tração e roadmap entregue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332720" cy="1024128"/>
          </a:xfrm>
          <a:prstGeom prst="roundRect">
            <a:avLst>
              <a:gd name="adj" fmla="val 892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652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ptx-wor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55114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Clínicas/Hospitais (Sprint 21)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2140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ponta a ponta, multi-tenant funcionando em produção.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852928"/>
            <a:ext cx="10332720" cy="1024128"/>
          </a:xfrm>
          <a:prstGeom prst="roundRect">
            <a:avLst>
              <a:gd name="adj" fmla="val 8929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0678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pptx-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216402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71800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centralizado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91640" y="3282696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hub de autenticação para paciente, médico e clínica.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014216"/>
            <a:ext cx="10332720" cy="1024128"/>
          </a:xfrm>
          <a:prstGeom prst="roundRect">
            <a:avLst>
              <a:gd name="adj" fmla="val 8929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2291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pptx-work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776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33088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técnicos prontos para execução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91640" y="4443984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(Sprint 18) e gov.br/RNDS (Sprint 22) — planejamento completo, aguardando priorização.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5175504"/>
            <a:ext cx="10332720" cy="1024128"/>
          </a:xfrm>
          <a:prstGeom prst="roundRect">
            <a:avLst>
              <a:gd name="adj" fmla="val 8929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390388"/>
            <a:ext cx="594360" cy="594360"/>
          </a:xfrm>
          <a:prstGeom prst="ellipse">
            <a:avLst/>
          </a:prstGeom>
          <a:solidFill>
            <a:srgbClr val="AEB6CC"/>
          </a:solidFill>
          <a:ln/>
        </p:spPr>
      </p:sp>
      <p:pic>
        <p:nvPicPr>
          <p:cNvPr id="21" name="Image 3" descr="/tmp/pptx-wor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538978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94376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[completar]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91640" y="560527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usuários ativos, médicos/clínicas cadastrados, quando houver.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O CAPÔ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37560" cy="3657600"/>
          </a:xfrm>
          <a:prstGeom prst="roundRect">
            <a:avLst>
              <a:gd name="adj" fmla="val 3836"/>
            </a:avLst>
          </a:prstGeom>
          <a:solidFill>
            <a:srgbClr val="232D66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2402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/tmp/pptx-wor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4460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pnpm: NestJS (API), Next.js 14 (três portais web), Expo/React Native (mobile).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337560" cy="3657600"/>
          </a:xfrm>
          <a:prstGeom prst="roundRect">
            <a:avLst>
              <a:gd name="adj" fmla="val 3836"/>
            </a:avLst>
          </a:prstGeom>
          <a:solidFill>
            <a:srgbClr val="232D66"/>
          </a:solidFill>
          <a:ln/>
        </p:spPr>
      </p:sp>
      <p:sp>
        <p:nvSpPr>
          <p:cNvPr id="10" name="Shape 7"/>
          <p:cNvSpPr/>
          <p:nvPr/>
        </p:nvSpPr>
        <p:spPr>
          <a:xfrm>
            <a:off x="5554980" y="22402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1" name="Image 1" descr="/tmp/pptx-wor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4460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46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7033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Prisma, Redis, arquitetura multi-tenant por clinicId opcional sem duplicar lógica de negócio.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337560" cy="3657600"/>
          </a:xfrm>
          <a:prstGeom prst="roundRect">
            <a:avLst>
              <a:gd name="adj" fmla="val 3836"/>
            </a:avLst>
          </a:prstGeom>
          <a:solidFill>
            <a:srgbClr val="232D66"/>
          </a:solidFill>
          <a:ln/>
        </p:spPr>
      </p:sp>
      <p:sp>
        <p:nvSpPr>
          <p:cNvPr id="15" name="Shape 11"/>
          <p:cNvSpPr/>
          <p:nvPr/>
        </p:nvSpPr>
        <p:spPr>
          <a:xfrm>
            <a:off x="9212580" y="2240280"/>
            <a:ext cx="822960" cy="8229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6" name="Image 2" descr="/tmp/pptx-wor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4460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246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75320" y="370332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de cartão via gateway (nunca armazena PAN), LGPD por design, auditoria completa de webhooks.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— R$ 500.000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dos recursos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577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810512"/>
            <a:ext cx="20116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17373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Desenvolvimento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95560" y="17373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0" y="206654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R$ 315.000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37960" y="2651760"/>
            <a:ext cx="201168" cy="201168"/>
          </a:xfrm>
          <a:prstGeom prst="rect">
            <a:avLst/>
          </a:prstGeom>
          <a:solidFill>
            <a:srgbClr val="3E4E9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578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Aquisição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95560" y="25786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0" y="29077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R$ 126.000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37960" y="3493008"/>
            <a:ext cx="201168" cy="201168"/>
          </a:xfrm>
          <a:prstGeom prst="rect">
            <a:avLst/>
          </a:prstGeom>
          <a:solidFill>
            <a:srgbClr val="6B7BC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4198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&amp; Equipe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195560" y="34198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0" y="37490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R$ 105.000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37960" y="4334256"/>
            <a:ext cx="201168" cy="201168"/>
          </a:xfrm>
          <a:prstGeom prst="rect">
            <a:avLst/>
          </a:prstGeom>
          <a:solidFill>
            <a:srgbClr val="A6B3E0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42611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DPO &amp; LGPD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195560" y="426110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58000" y="45902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R$ 84.000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5175504"/>
            <a:ext cx="201168" cy="201168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51023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Cloud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195560" y="51023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858000" y="543153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R$ 70.000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332720" cy="393192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454396" y="21488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ptx-work/icons/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24003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32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B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[completar]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71600" y="39776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Fundadores, sócios e papéis — sem dado coletado ainda nesta jornada.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R$ 500.000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Seed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232D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equity oferecido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33832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315968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232D6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159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431596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248656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232D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4865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524865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[completar: mútuo conversível / SAFE / equity direto]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55448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tmp/pptx-work/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91109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IcodLife / Sou Doutor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1600" y="3886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[completar: e-mail, site e telefone de contato para investidores]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Pitch Deck Investidores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2026-07-20T15:26:35Z</dcterms:created>
  <dcterms:modified xsi:type="dcterms:W3CDTF">2026-07-20T15:26:35Z</dcterms:modified>
</cp:coreProperties>
</file>